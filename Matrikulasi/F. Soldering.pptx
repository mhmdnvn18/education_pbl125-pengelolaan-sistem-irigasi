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275" r:id="rId22"/>
  </p:sldIdLst>
  <p:sldSz cx="9144000" cy="5143500" type="screen16x9"/>
  <p:notesSz cx="6858000" cy="9144000"/>
  <p:embeddedFontLst>
    <p:embeddedFont>
      <p:font typeface="Montserrat" panose="020B0604020202020204" charset="0"/>
      <p:regular r:id="rId24"/>
      <p:bold r:id="rId25"/>
      <p:italic r:id="rId26"/>
      <p:boldItalic r:id="rId27"/>
    </p:embeddedFont>
    <p:embeddedFont>
      <p:font typeface="Tahoma" panose="020B0604030504040204" pitchFamily="34" charset="0"/>
      <p:regular r:id="rId28"/>
      <p:bold r:id="rId29"/>
    </p:embeddedFont>
    <p:embeddedFont>
      <p:font typeface="Prompt Black" panose="020B0604020202020204" charset="-34"/>
      <p:bold r:id="rId30"/>
      <p:boldItalic r:id="rId31"/>
    </p:embeddedFont>
    <p:embeddedFont>
      <p:font typeface="Franklin Gothic Book" panose="020B0503020102020204" pitchFamily="34" charset="0"/>
      <p:regular r:id="rId32"/>
      <p:italic r:id="rId33"/>
    </p:embeddedFont>
    <p:embeddedFont>
      <p:font typeface="Prompt Medium" panose="020B0604020202020204" charset="-34"/>
      <p:regular r:id="rId34"/>
      <p:bold r:id="rId35"/>
      <p:italic r:id="rId36"/>
      <p:boldItalic r:id="rId37"/>
    </p:embeddedFont>
    <p:embeddedFont>
      <p:font typeface="Prompt ExtraLight" panose="020B0604020202020204" charset="-34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5B276-6242-4412-87DE-51D9AC1C00D6}">
  <a:tblStyle styleId="{73B5B276-6242-4412-87DE-51D9AC1C00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8179CA-AFE9-48F4-9969-7C56FC7AAD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4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4237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900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550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687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78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76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241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772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360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790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090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626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194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527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981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416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008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478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291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229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142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97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15100" y="535000"/>
            <a:ext cx="5108700" cy="21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734000" y="3871500"/>
            <a:ext cx="2694900" cy="6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70450" y="93800"/>
            <a:ext cx="9241887" cy="4724285"/>
            <a:chOff x="-370450" y="93800"/>
            <a:chExt cx="9241887" cy="472428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9125" y="93800"/>
              <a:ext cx="198262" cy="526385"/>
              <a:chOff x="179125" y="93800"/>
              <a:chExt cx="198262" cy="52638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79125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23387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9125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23387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79125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23387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79125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23387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1" name="Google Shape;21;p2"/>
            <p:cNvSpPr/>
            <p:nvPr/>
          </p:nvSpPr>
          <p:spPr>
            <a:xfrm>
              <a:off x="557300" y="126475"/>
              <a:ext cx="315600" cy="31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370450" y="2065625"/>
              <a:ext cx="805500" cy="805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8673175" y="4291700"/>
              <a:ext cx="198262" cy="526385"/>
              <a:chOff x="179125" y="93800"/>
              <a:chExt cx="198262" cy="52638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79125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23387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79125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23387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79125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23387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79125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23387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6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955237" y="4567962"/>
            <a:ext cx="4082427" cy="114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6"/>
          <p:cNvGrpSpPr/>
          <p:nvPr/>
        </p:nvGrpSpPr>
        <p:grpSpPr>
          <a:xfrm>
            <a:off x="8741200" y="1017725"/>
            <a:ext cx="955450" cy="1142200"/>
            <a:chOff x="8741200" y="1017725"/>
            <a:chExt cx="955450" cy="1142200"/>
          </a:xfrm>
        </p:grpSpPr>
        <p:sp>
          <p:nvSpPr>
            <p:cNvPr id="64" name="Google Shape;64;p6"/>
            <p:cNvSpPr/>
            <p:nvPr/>
          </p:nvSpPr>
          <p:spPr>
            <a:xfrm>
              <a:off x="8891150" y="1354425"/>
              <a:ext cx="805500" cy="805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8741200" y="1017725"/>
              <a:ext cx="315600" cy="315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-2910688" y="-2571737"/>
            <a:ext cx="14433243" cy="11791931"/>
            <a:chOff x="-2910688" y="-2571737"/>
            <a:chExt cx="14433243" cy="11791931"/>
          </a:xfrm>
        </p:grpSpPr>
        <p:pic>
          <p:nvPicPr>
            <p:cNvPr id="101" name="Google Shape;101;p9"/>
            <p:cNvPicPr preferRelativeResize="0"/>
            <p:nvPr/>
          </p:nvPicPr>
          <p:blipFill>
            <a:blip r:embed="rId2">
              <a:alphaModFix amt="70000"/>
            </a:blip>
            <a:stretch>
              <a:fillRect/>
            </a:stretch>
          </p:blipFill>
          <p:spPr>
            <a:xfrm>
              <a:off x="-2910688" y="4076694"/>
              <a:ext cx="6108577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9"/>
            <p:cNvPicPr preferRelativeResize="0"/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6251843" y="-2571737"/>
              <a:ext cx="5270712" cy="51434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9"/>
          <p:cNvGrpSpPr/>
          <p:nvPr/>
        </p:nvGrpSpPr>
        <p:grpSpPr>
          <a:xfrm rot="-1325700">
            <a:off x="8144154" y="4323628"/>
            <a:ext cx="569635" cy="569635"/>
            <a:chOff x="2186585" y="190453"/>
            <a:chExt cx="557400" cy="557400"/>
          </a:xfrm>
        </p:grpSpPr>
        <p:sp>
          <p:nvSpPr>
            <p:cNvPr id="104" name="Google Shape;104;p9"/>
            <p:cNvSpPr/>
            <p:nvPr/>
          </p:nvSpPr>
          <p:spPr>
            <a:xfrm>
              <a:off x="2186585" y="377730"/>
              <a:ext cx="557400" cy="1827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9"/>
            <p:cNvSpPr/>
            <p:nvPr/>
          </p:nvSpPr>
          <p:spPr>
            <a:xfrm rot="5400000">
              <a:off x="2186605" y="379453"/>
              <a:ext cx="557400" cy="1794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158800"/>
            <a:ext cx="7704000" cy="449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rompt Black"/>
              <a:buNone/>
              <a:defRPr sz="9600">
                <a:latin typeface="Prompt Black"/>
                <a:ea typeface="Prompt Black"/>
                <a:cs typeface="Prompt Black"/>
                <a:sym typeface="Prompt Black"/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11"/>
          <p:cNvSpPr/>
          <p:nvPr/>
        </p:nvSpPr>
        <p:spPr>
          <a:xfrm rot="-4906871" flipH="1">
            <a:off x="1274392" y="4301158"/>
            <a:ext cx="4668670" cy="4603502"/>
          </a:xfrm>
          <a:custGeom>
            <a:avLst/>
            <a:gdLst/>
            <a:ahLst/>
            <a:cxnLst/>
            <a:rect l="l" t="t" r="r" b="b"/>
            <a:pathLst>
              <a:path w="6591" h="6499" extrusionOk="0">
                <a:moveTo>
                  <a:pt x="4103" y="1003"/>
                </a:moveTo>
                <a:cubicBezTo>
                  <a:pt x="4997" y="1142"/>
                  <a:pt x="6849" y="1790"/>
                  <a:pt x="6561" y="2856"/>
                </a:cubicBezTo>
                <a:cubicBezTo>
                  <a:pt x="6497" y="3091"/>
                  <a:pt x="6340" y="3288"/>
                  <a:pt x="6131" y="3414"/>
                </a:cubicBezTo>
                <a:cubicBezTo>
                  <a:pt x="5692" y="3675"/>
                  <a:pt x="5007" y="3858"/>
                  <a:pt x="4557" y="4153"/>
                </a:cubicBezTo>
                <a:cubicBezTo>
                  <a:pt x="4394" y="4261"/>
                  <a:pt x="4266" y="4418"/>
                  <a:pt x="4194" y="4602"/>
                </a:cubicBezTo>
                <a:cubicBezTo>
                  <a:pt x="3477" y="6421"/>
                  <a:pt x="5039" y="6483"/>
                  <a:pt x="1014" y="6499"/>
                </a:cubicBezTo>
                <a:cubicBezTo>
                  <a:pt x="751" y="6500"/>
                  <a:pt x="494" y="6403"/>
                  <a:pt x="301" y="6222"/>
                </a:cubicBezTo>
                <a:cubicBezTo>
                  <a:pt x="-327" y="5630"/>
                  <a:pt x="182" y="4615"/>
                  <a:pt x="442" y="3798"/>
                </a:cubicBezTo>
                <a:cubicBezTo>
                  <a:pt x="502" y="3613"/>
                  <a:pt x="502" y="3412"/>
                  <a:pt x="444" y="3227"/>
                </a:cubicBezTo>
                <a:cubicBezTo>
                  <a:pt x="-783" y="-675"/>
                  <a:pt x="841" y="-530"/>
                  <a:pt x="4103" y="1003"/>
                </a:cubicBezTo>
                <a:close/>
              </a:path>
            </a:pathLst>
          </a:custGeom>
          <a:solidFill>
            <a:srgbClr val="05FFBF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1"/>
          <p:cNvGrpSpPr/>
          <p:nvPr/>
        </p:nvGrpSpPr>
        <p:grpSpPr>
          <a:xfrm>
            <a:off x="7694090" y="0"/>
            <a:ext cx="1277677" cy="1007116"/>
            <a:chOff x="7694090" y="0"/>
            <a:chExt cx="1277677" cy="1007116"/>
          </a:xfrm>
        </p:grpSpPr>
        <p:grpSp>
          <p:nvGrpSpPr>
            <p:cNvPr id="114" name="Google Shape;114;p11"/>
            <p:cNvGrpSpPr/>
            <p:nvPr/>
          </p:nvGrpSpPr>
          <p:grpSpPr>
            <a:xfrm rot="-2700000">
              <a:off x="7812061" y="117970"/>
              <a:ext cx="569613" cy="569613"/>
              <a:chOff x="2186585" y="190453"/>
              <a:chExt cx="557400" cy="557400"/>
            </a:xfrm>
          </p:grpSpPr>
          <p:sp>
            <p:nvSpPr>
              <p:cNvPr id="115" name="Google Shape;115;p11"/>
              <p:cNvSpPr/>
              <p:nvPr/>
            </p:nvSpPr>
            <p:spPr>
              <a:xfrm>
                <a:off x="2186585" y="377730"/>
                <a:ext cx="557400" cy="1827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6" name="Google Shape;116;p11"/>
              <p:cNvSpPr/>
              <p:nvPr/>
            </p:nvSpPr>
            <p:spPr>
              <a:xfrm rot="5400000">
                <a:off x="2186605" y="379453"/>
                <a:ext cx="557400" cy="1794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17" name="Google Shape;117;p11"/>
            <p:cNvGrpSpPr/>
            <p:nvPr/>
          </p:nvGrpSpPr>
          <p:grpSpPr>
            <a:xfrm rot="-2191529">
              <a:off x="8566947" y="602296"/>
              <a:ext cx="337523" cy="337523"/>
              <a:chOff x="2186585" y="190453"/>
              <a:chExt cx="557400" cy="557400"/>
            </a:xfrm>
          </p:grpSpPr>
          <p:sp>
            <p:nvSpPr>
              <p:cNvPr id="118" name="Google Shape;118;p11"/>
              <p:cNvSpPr/>
              <p:nvPr/>
            </p:nvSpPr>
            <p:spPr>
              <a:xfrm>
                <a:off x="2186585" y="377730"/>
                <a:ext cx="557400" cy="1827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 rot="5400000">
                <a:off x="2186605" y="379453"/>
                <a:ext cx="557400" cy="1794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>
            <a:spLocks noGrp="1"/>
          </p:cNvSpPr>
          <p:nvPr>
            <p:ph type="ctrTitle"/>
          </p:nvPr>
        </p:nvSpPr>
        <p:spPr>
          <a:xfrm>
            <a:off x="2915959" y="748300"/>
            <a:ext cx="3312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type="subTitle" idx="1"/>
          </p:nvPr>
        </p:nvSpPr>
        <p:spPr>
          <a:xfrm>
            <a:off x="2916041" y="1626025"/>
            <a:ext cx="3312000" cy="11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2267850" y="3655925"/>
            <a:ext cx="460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includes icons by </a:t>
            </a:r>
            <a:r>
              <a:rPr lang="en" sz="1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9" name="Google Shape;279;p22"/>
          <p:cNvGrpSpPr/>
          <p:nvPr/>
        </p:nvGrpSpPr>
        <p:grpSpPr>
          <a:xfrm rot="5400000">
            <a:off x="495375" y="4591375"/>
            <a:ext cx="198262" cy="526385"/>
            <a:chOff x="179125" y="93800"/>
            <a:chExt cx="198262" cy="526385"/>
          </a:xfrm>
        </p:grpSpPr>
        <p:sp>
          <p:nvSpPr>
            <p:cNvPr id="280" name="Google Shape;280;p22"/>
            <p:cNvSpPr/>
            <p:nvPr/>
          </p:nvSpPr>
          <p:spPr>
            <a:xfrm>
              <a:off x="179125" y="93800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23387" y="93800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179125" y="251262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23387" y="251262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179125" y="408723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23387" y="408723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179125" y="566185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23387" y="566185"/>
              <a:ext cx="54000" cy="54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814515" y="-2036750"/>
            <a:ext cx="578382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3"/>
          <p:cNvGrpSpPr/>
          <p:nvPr/>
        </p:nvGrpSpPr>
        <p:grpSpPr>
          <a:xfrm>
            <a:off x="240375" y="4450700"/>
            <a:ext cx="1197750" cy="1184200"/>
            <a:chOff x="240375" y="4450700"/>
            <a:chExt cx="1197750" cy="1184200"/>
          </a:xfrm>
        </p:grpSpPr>
        <p:sp>
          <p:nvSpPr>
            <p:cNvPr id="291" name="Google Shape;291;p23"/>
            <p:cNvSpPr/>
            <p:nvPr/>
          </p:nvSpPr>
          <p:spPr>
            <a:xfrm>
              <a:off x="240375" y="4450700"/>
              <a:ext cx="315600" cy="31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91725" y="4730400"/>
              <a:ext cx="904500" cy="904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1296225" y="4833750"/>
              <a:ext cx="141900" cy="141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24"/>
          <p:cNvGrpSpPr/>
          <p:nvPr/>
        </p:nvGrpSpPr>
        <p:grpSpPr>
          <a:xfrm>
            <a:off x="-2326869" y="-1593610"/>
            <a:ext cx="13650371" cy="8773864"/>
            <a:chOff x="-2326869" y="-1593610"/>
            <a:chExt cx="13650371" cy="8773864"/>
          </a:xfrm>
        </p:grpSpPr>
        <p:sp>
          <p:nvSpPr>
            <p:cNvPr id="296" name="Google Shape;296;p24"/>
            <p:cNvSpPr/>
            <p:nvPr/>
          </p:nvSpPr>
          <p:spPr>
            <a:xfrm>
              <a:off x="6671500" y="-1593610"/>
              <a:ext cx="4652002" cy="4257219"/>
            </a:xfrm>
            <a:custGeom>
              <a:avLst/>
              <a:gdLst/>
              <a:ahLst/>
              <a:cxnLst/>
              <a:rect l="l" t="t" r="r" b="b"/>
              <a:pathLst>
                <a:path w="6198" h="5672" extrusionOk="0">
                  <a:moveTo>
                    <a:pt x="5376" y="682"/>
                  </a:moveTo>
                  <a:cubicBezTo>
                    <a:pt x="6571" y="2179"/>
                    <a:pt x="6662" y="5811"/>
                    <a:pt x="4303" y="5668"/>
                  </a:cubicBezTo>
                  <a:cubicBezTo>
                    <a:pt x="4126" y="5659"/>
                    <a:pt x="3951" y="5614"/>
                    <a:pt x="3793" y="5533"/>
                  </a:cubicBezTo>
                  <a:cubicBezTo>
                    <a:pt x="2883" y="5071"/>
                    <a:pt x="2468" y="3902"/>
                    <a:pt x="1663" y="3385"/>
                  </a:cubicBezTo>
                  <a:cubicBezTo>
                    <a:pt x="1590" y="3339"/>
                    <a:pt x="1516" y="3302"/>
                    <a:pt x="1438" y="3270"/>
                  </a:cubicBezTo>
                  <a:cubicBezTo>
                    <a:pt x="914" y="3059"/>
                    <a:pt x="373" y="2491"/>
                    <a:pt x="107" y="1866"/>
                  </a:cubicBezTo>
                  <a:cubicBezTo>
                    <a:pt x="-248" y="1033"/>
                    <a:pt x="323" y="96"/>
                    <a:pt x="1226" y="27"/>
                  </a:cubicBezTo>
                  <a:cubicBezTo>
                    <a:pt x="2254" y="-51"/>
                    <a:pt x="3676" y="48"/>
                    <a:pt x="4576" y="208"/>
                  </a:cubicBezTo>
                  <a:cubicBezTo>
                    <a:pt x="4890" y="264"/>
                    <a:pt x="5175" y="433"/>
                    <a:pt x="5376" y="682"/>
                  </a:cubicBezTo>
                  <a:close/>
                </a:path>
              </a:pathLst>
            </a:custGeom>
            <a:solidFill>
              <a:srgbClr val="05FFB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" name="Google Shape;297;p24"/>
            <p:cNvPicPr preferRelativeResize="0"/>
            <p:nvPr/>
          </p:nvPicPr>
          <p:blipFill>
            <a:blip r:embed="rId2">
              <a:alphaModFix amt="70000"/>
            </a:blip>
            <a:stretch>
              <a:fillRect/>
            </a:stretch>
          </p:blipFill>
          <p:spPr>
            <a:xfrm>
              <a:off x="-2326869" y="2036753"/>
              <a:ext cx="6622339" cy="5143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p24"/>
          <p:cNvGrpSpPr/>
          <p:nvPr/>
        </p:nvGrpSpPr>
        <p:grpSpPr>
          <a:xfrm>
            <a:off x="270763" y="203838"/>
            <a:ext cx="8602499" cy="4735824"/>
            <a:chOff x="270762" y="215763"/>
            <a:chExt cx="8602499" cy="4735824"/>
          </a:xfrm>
        </p:grpSpPr>
        <p:grpSp>
          <p:nvGrpSpPr>
            <p:cNvPr id="299" name="Google Shape;299;p24"/>
            <p:cNvGrpSpPr/>
            <p:nvPr/>
          </p:nvGrpSpPr>
          <p:grpSpPr>
            <a:xfrm rot="5400000">
              <a:off x="8510938" y="4589263"/>
              <a:ext cx="198262" cy="526385"/>
              <a:chOff x="179125" y="93800"/>
              <a:chExt cx="198262" cy="526385"/>
            </a:xfrm>
          </p:grpSpPr>
          <p:sp>
            <p:nvSpPr>
              <p:cNvPr id="300" name="Google Shape;300;p24"/>
              <p:cNvSpPr/>
              <p:nvPr/>
            </p:nvSpPr>
            <p:spPr>
              <a:xfrm>
                <a:off x="179125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1" name="Google Shape;301;p24"/>
              <p:cNvSpPr/>
              <p:nvPr/>
            </p:nvSpPr>
            <p:spPr>
              <a:xfrm>
                <a:off x="323387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2" name="Google Shape;302;p24"/>
              <p:cNvSpPr/>
              <p:nvPr/>
            </p:nvSpPr>
            <p:spPr>
              <a:xfrm>
                <a:off x="179125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3" name="Google Shape;303;p24"/>
              <p:cNvSpPr/>
              <p:nvPr/>
            </p:nvSpPr>
            <p:spPr>
              <a:xfrm>
                <a:off x="323387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4" name="Google Shape;304;p24"/>
              <p:cNvSpPr/>
              <p:nvPr/>
            </p:nvSpPr>
            <p:spPr>
              <a:xfrm>
                <a:off x="179125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5" name="Google Shape;305;p24"/>
              <p:cNvSpPr/>
              <p:nvPr/>
            </p:nvSpPr>
            <p:spPr>
              <a:xfrm>
                <a:off x="323387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6" name="Google Shape;306;p24"/>
              <p:cNvSpPr/>
              <p:nvPr/>
            </p:nvSpPr>
            <p:spPr>
              <a:xfrm>
                <a:off x="179125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07" name="Google Shape;307;p24"/>
              <p:cNvSpPr/>
              <p:nvPr/>
            </p:nvSpPr>
            <p:spPr>
              <a:xfrm>
                <a:off x="323387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308" name="Google Shape;308;p24"/>
            <p:cNvGrpSpPr/>
            <p:nvPr/>
          </p:nvGrpSpPr>
          <p:grpSpPr>
            <a:xfrm rot="10800000">
              <a:off x="270763" y="215763"/>
              <a:ext cx="198262" cy="526385"/>
              <a:chOff x="179125" y="93800"/>
              <a:chExt cx="198262" cy="526385"/>
            </a:xfrm>
          </p:grpSpPr>
          <p:sp>
            <p:nvSpPr>
              <p:cNvPr id="309" name="Google Shape;309;p24"/>
              <p:cNvSpPr/>
              <p:nvPr/>
            </p:nvSpPr>
            <p:spPr>
              <a:xfrm>
                <a:off x="179125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0" name="Google Shape;310;p24"/>
              <p:cNvSpPr/>
              <p:nvPr/>
            </p:nvSpPr>
            <p:spPr>
              <a:xfrm>
                <a:off x="323387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1" name="Google Shape;311;p24"/>
              <p:cNvSpPr/>
              <p:nvPr/>
            </p:nvSpPr>
            <p:spPr>
              <a:xfrm>
                <a:off x="179125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323387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179125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4" name="Google Shape;314;p24"/>
              <p:cNvSpPr/>
              <p:nvPr/>
            </p:nvSpPr>
            <p:spPr>
              <a:xfrm>
                <a:off x="323387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5" name="Google Shape;315;p24"/>
              <p:cNvSpPr/>
              <p:nvPr/>
            </p:nvSpPr>
            <p:spPr>
              <a:xfrm>
                <a:off x="179125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16" name="Google Shape;316;p24"/>
              <p:cNvSpPr/>
              <p:nvPr/>
            </p:nvSpPr>
            <p:spPr>
              <a:xfrm>
                <a:off x="323387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 Medium"/>
              <a:buNone/>
              <a:defRPr sz="300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6" r:id="rId4"/>
    <p:sldLayoutId id="2147483657" r:id="rId5"/>
    <p:sldLayoutId id="2147483658" r:id="rId6"/>
    <p:sldLayoutId id="2147483668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>
            <a:spLocks noGrp="1"/>
          </p:cNvSpPr>
          <p:nvPr>
            <p:ph type="ctrTitle"/>
          </p:nvPr>
        </p:nvSpPr>
        <p:spPr>
          <a:xfrm>
            <a:off x="4707883" y="1432817"/>
            <a:ext cx="3687472" cy="12714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 smtClean="0"/>
              <a:t>TEKNIK PENYOLDERAN</a:t>
            </a:r>
            <a:endParaRPr sz="3600" dirty="0">
              <a:latin typeface="Prompt ExtraLight"/>
              <a:ea typeface="Prompt ExtraLight"/>
              <a:cs typeface="Prompt ExtraLight"/>
              <a:sym typeface="Prompt ExtraLight"/>
            </a:endParaRPr>
          </a:p>
        </p:txBody>
      </p:sp>
      <p:grpSp>
        <p:nvGrpSpPr>
          <p:cNvPr id="329" name="Google Shape;329;p28"/>
          <p:cNvGrpSpPr/>
          <p:nvPr/>
        </p:nvGrpSpPr>
        <p:grpSpPr>
          <a:xfrm>
            <a:off x="-1228400" y="2317760"/>
            <a:ext cx="6592553" cy="5571220"/>
            <a:chOff x="-1228400" y="2317760"/>
            <a:chExt cx="6592553" cy="5571220"/>
          </a:xfrm>
        </p:grpSpPr>
        <p:sp>
          <p:nvSpPr>
            <p:cNvPr id="330" name="Google Shape;330;p28"/>
            <p:cNvSpPr/>
            <p:nvPr/>
          </p:nvSpPr>
          <p:spPr>
            <a:xfrm rot="-730553">
              <a:off x="-824020" y="2877631"/>
              <a:ext cx="5783794" cy="4451476"/>
            </a:xfrm>
            <a:custGeom>
              <a:avLst/>
              <a:gdLst/>
              <a:ahLst/>
              <a:cxnLst/>
              <a:rect l="l" t="t" r="r" b="b"/>
              <a:pathLst>
                <a:path w="5522" h="4250" extrusionOk="0">
                  <a:moveTo>
                    <a:pt x="3350" y="1592"/>
                  </a:moveTo>
                  <a:cubicBezTo>
                    <a:pt x="3709" y="1823"/>
                    <a:pt x="4253" y="1886"/>
                    <a:pt x="4694" y="2026"/>
                  </a:cubicBezTo>
                  <a:cubicBezTo>
                    <a:pt x="5056" y="2140"/>
                    <a:pt x="5346" y="2415"/>
                    <a:pt x="5471" y="2774"/>
                  </a:cubicBezTo>
                  <a:cubicBezTo>
                    <a:pt x="5776" y="3655"/>
                    <a:pt x="4650" y="3812"/>
                    <a:pt x="3690" y="3784"/>
                  </a:cubicBezTo>
                  <a:cubicBezTo>
                    <a:pt x="3266" y="3772"/>
                    <a:pt x="2843" y="3852"/>
                    <a:pt x="2450" y="4016"/>
                  </a:cubicBezTo>
                  <a:cubicBezTo>
                    <a:pt x="1746" y="4308"/>
                    <a:pt x="1319" y="4478"/>
                    <a:pt x="709" y="3579"/>
                  </a:cubicBezTo>
                  <a:cubicBezTo>
                    <a:pt x="668" y="3520"/>
                    <a:pt x="622" y="3464"/>
                    <a:pt x="571" y="3413"/>
                  </a:cubicBezTo>
                  <a:cubicBezTo>
                    <a:pt x="-657" y="2182"/>
                    <a:pt x="224" y="-581"/>
                    <a:pt x="1991" y="109"/>
                  </a:cubicBezTo>
                  <a:cubicBezTo>
                    <a:pt x="2213" y="196"/>
                    <a:pt x="2406" y="346"/>
                    <a:pt x="2541" y="543"/>
                  </a:cubicBezTo>
                  <a:cubicBezTo>
                    <a:pt x="2784" y="891"/>
                    <a:pt x="2960" y="1341"/>
                    <a:pt x="3350" y="1592"/>
                  </a:cubicBezTo>
                  <a:close/>
                </a:path>
              </a:pathLst>
            </a:custGeom>
            <a:solidFill>
              <a:srgbClr val="05FFB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28"/>
            <p:cNvGrpSpPr/>
            <p:nvPr/>
          </p:nvGrpSpPr>
          <p:grpSpPr>
            <a:xfrm rot="-2700000">
              <a:off x="3630213" y="3859662"/>
              <a:ext cx="372227" cy="372227"/>
              <a:chOff x="2186585" y="190453"/>
              <a:chExt cx="557400" cy="557400"/>
            </a:xfrm>
          </p:grpSpPr>
          <p:sp>
            <p:nvSpPr>
              <p:cNvPr id="332" name="Google Shape;332;p28"/>
              <p:cNvSpPr/>
              <p:nvPr/>
            </p:nvSpPr>
            <p:spPr>
              <a:xfrm>
                <a:off x="2186585" y="377730"/>
                <a:ext cx="557400" cy="1827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33" name="Google Shape;333;p28"/>
              <p:cNvSpPr/>
              <p:nvPr/>
            </p:nvSpPr>
            <p:spPr>
              <a:xfrm rot="5400000">
                <a:off x="2186605" y="379453"/>
                <a:ext cx="557400" cy="1794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34" name="Google Shape;334;p28"/>
          <p:cNvGrpSpPr/>
          <p:nvPr/>
        </p:nvGrpSpPr>
        <p:grpSpPr>
          <a:xfrm>
            <a:off x="6023714" y="-4571926"/>
            <a:ext cx="9331742" cy="8922166"/>
            <a:chOff x="5585380" y="-4104094"/>
            <a:chExt cx="9331742" cy="8922166"/>
          </a:xfrm>
        </p:grpSpPr>
        <p:pic>
          <p:nvPicPr>
            <p:cNvPr id="335" name="Google Shape;335;p28"/>
            <p:cNvPicPr preferRelativeResize="0"/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 rot="-8470062">
              <a:off x="6331695" y="-2214760"/>
              <a:ext cx="7839111" cy="51434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" name="Google Shape;336;p28"/>
            <p:cNvGrpSpPr/>
            <p:nvPr/>
          </p:nvGrpSpPr>
          <p:grpSpPr>
            <a:xfrm rot="-2700000">
              <a:off x="7939036" y="1708920"/>
              <a:ext cx="569613" cy="569613"/>
              <a:chOff x="2186585" y="190453"/>
              <a:chExt cx="557400" cy="557400"/>
            </a:xfrm>
          </p:grpSpPr>
          <p:sp>
            <p:nvSpPr>
              <p:cNvPr id="337" name="Google Shape;337;p28"/>
              <p:cNvSpPr/>
              <p:nvPr/>
            </p:nvSpPr>
            <p:spPr>
              <a:xfrm>
                <a:off x="2186585" y="377730"/>
                <a:ext cx="557400" cy="1827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38" name="Google Shape;338;p28"/>
              <p:cNvSpPr/>
              <p:nvPr/>
            </p:nvSpPr>
            <p:spPr>
              <a:xfrm rot="5400000">
                <a:off x="2186605" y="379453"/>
                <a:ext cx="557400" cy="1794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16" y="1018356"/>
            <a:ext cx="4094208" cy="2598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267938" y="71919"/>
            <a:ext cx="5341752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</a:t>
            </a: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8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</a:t>
            </a: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solder digital</a:t>
            </a:r>
            <a:endParaRPr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42" y="792485"/>
            <a:ext cx="7559426" cy="4271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6" y="226031"/>
            <a:ext cx="6492458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Pengaturan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suhu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pada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solder digital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204894" y="965771"/>
            <a:ext cx="4675331" cy="359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Gunakan</a:t>
            </a:r>
            <a:r>
              <a:rPr lang="en-US" sz="2000" dirty="0" smtClean="0">
                <a:latin typeface="Tahoma" panose="020B0604030504040204" pitchFamily="34" charset="0"/>
              </a:rPr>
              <a:t> temperature yang </a:t>
            </a:r>
            <a:r>
              <a:rPr lang="en-US" sz="2000" dirty="0" err="1" smtClean="0">
                <a:latin typeface="Tahoma" panose="020B0604030504040204" pitchFamily="34" charset="0"/>
              </a:rPr>
              <a:t>cukup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pada</a:t>
            </a:r>
            <a:r>
              <a:rPr lang="en-US" sz="2000" dirty="0" smtClean="0">
                <a:latin typeface="Tahoma" panose="020B0604030504040204" pitchFamily="34" charset="0"/>
              </a:rPr>
              <a:t> solder </a:t>
            </a:r>
            <a:r>
              <a:rPr lang="en-US" sz="2000" dirty="0" err="1" smtClean="0">
                <a:latin typeface="Tahoma" panose="020B0604030504040204" pitchFamily="34" charset="0"/>
              </a:rPr>
              <a:t>selama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Anda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bekerja</a:t>
            </a:r>
            <a:r>
              <a:rPr lang="en-US" sz="2000" dirty="0" smtClean="0">
                <a:latin typeface="Tahoma" panose="020B0604030504040204" pitchFamily="34" charset="0"/>
              </a:rPr>
              <a:t> (330</a:t>
            </a:r>
            <a:r>
              <a:rPr lang="en-US" sz="2000" baseline="30000" dirty="0" smtClean="0">
                <a:latin typeface="Tahoma" panose="020B0604030504040204" pitchFamily="34" charset="0"/>
              </a:rPr>
              <a:t>0</a:t>
            </a:r>
            <a:r>
              <a:rPr lang="en-US" sz="2000" dirty="0" smtClean="0">
                <a:latin typeface="Tahoma" panose="020B0604030504040204" pitchFamily="34" charset="0"/>
              </a:rPr>
              <a:t> – 380</a:t>
            </a:r>
            <a:r>
              <a:rPr lang="en-US" sz="2000" baseline="30000" dirty="0" smtClean="0">
                <a:latin typeface="Tahoma" panose="020B0604030504040204" pitchFamily="34" charset="0"/>
              </a:rPr>
              <a:t>0 </a:t>
            </a:r>
            <a:r>
              <a:rPr lang="en-US" sz="2000" dirty="0" smtClean="0">
                <a:latin typeface="Tahoma" panose="020B0604030504040204" pitchFamily="34" charset="0"/>
              </a:rPr>
              <a:t>C)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ahoma" panose="020B0604030504040204" pitchFamily="34" charset="0"/>
              </a:rPr>
              <a:t>Solder </a:t>
            </a:r>
            <a:r>
              <a:rPr lang="en-US" sz="2000" dirty="0">
                <a:latin typeface="Tahoma" panose="020B0604030504040204" pitchFamily="34" charset="0"/>
              </a:rPr>
              <a:t>yang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panas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menyebabkan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matang</a:t>
            </a:r>
            <a:r>
              <a:rPr lang="en-US" sz="2000" dirty="0">
                <a:latin typeface="Tahoma" panose="020B0604030504040204" pitchFamily="34" charset="0"/>
              </a:rPr>
              <a:t> &amp; </a:t>
            </a:r>
            <a:r>
              <a:rPr lang="en-US" sz="2000" dirty="0" err="1">
                <a:latin typeface="Tahoma" panose="020B0604030504040204" pitchFamily="34" charset="0"/>
              </a:rPr>
              <a:t>kekuatan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menempel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pada</a:t>
            </a:r>
            <a:r>
              <a:rPr lang="en-US" sz="2000" dirty="0">
                <a:latin typeface="Tahoma" panose="020B0604030504040204" pitchFamily="34" charset="0"/>
              </a:rPr>
              <a:t> media solder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/</a:t>
            </a:r>
            <a:r>
              <a:rPr lang="en-US" sz="2000" dirty="0" err="1">
                <a:latin typeface="Tahoma" panose="020B0604030504040204" pitchFamily="34" charset="0"/>
              </a:rPr>
              <a:t>mudah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lepas</a:t>
            </a:r>
            <a:endParaRPr 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ahoma" panose="020B0604030504040204" pitchFamily="34" charset="0"/>
              </a:rPr>
              <a:t>Sedang</a:t>
            </a:r>
            <a:r>
              <a:rPr lang="en-US" sz="2000" dirty="0">
                <a:latin typeface="Tahoma" panose="020B0604030504040204" pitchFamily="34" charset="0"/>
              </a:rPr>
              <a:t> solder yang </a:t>
            </a:r>
            <a:r>
              <a:rPr lang="en-US" sz="2000" dirty="0" err="1">
                <a:latin typeface="Tahoma" panose="020B0604030504040204" pitchFamily="34" charset="0"/>
              </a:rPr>
              <a:t>terlalu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panas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akan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menyebabkan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mudah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retak</a:t>
            </a:r>
            <a:r>
              <a:rPr lang="en-US" sz="2000" dirty="0" smtClean="0">
                <a:latin typeface="Tahoma" panose="020B0604030504040204" pitchFamily="34" charset="0"/>
              </a:rPr>
              <a:t> (</a:t>
            </a:r>
            <a:r>
              <a:rPr lang="en-US" sz="2000" dirty="0" err="1" smtClean="0">
                <a:latin typeface="Tahoma" panose="020B0604030504040204" pitchFamily="34" charset="0"/>
              </a:rPr>
              <a:t>cacat</a:t>
            </a:r>
            <a:r>
              <a:rPr lang="en-US" sz="2000" dirty="0" smtClean="0">
                <a:latin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151" y="1623880"/>
            <a:ext cx="322942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6" y="226031"/>
            <a:ext cx="6492458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memegang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solder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75879" y="3137816"/>
            <a:ext cx="4180771" cy="168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Dipegang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sangat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erat</a:t>
            </a:r>
            <a:r>
              <a:rPr lang="en-US" sz="2000" dirty="0" smtClean="0">
                <a:latin typeface="Tahoma" panose="020B0604030504040204" pitchFamily="34" charset="0"/>
              </a:rPr>
              <a:t>/</a:t>
            </a:r>
            <a:r>
              <a:rPr lang="en-US" sz="2000" dirty="0" err="1" smtClean="0">
                <a:latin typeface="Tahoma" panose="020B0604030504040204" pitchFamily="34" charset="0"/>
              </a:rPr>
              <a:t>digenggam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erat</a:t>
            </a:r>
            <a:endParaRPr lang="en-US" sz="2000" dirty="0" smtClean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cara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memegang</a:t>
            </a:r>
            <a:r>
              <a:rPr lang="en-US" sz="2000" dirty="0" smtClean="0">
                <a:latin typeface="Tahoma" panose="020B0604030504040204" pitchFamily="34" charset="0"/>
              </a:rPr>
              <a:t> yang </a:t>
            </a:r>
            <a:r>
              <a:rPr lang="en-US" sz="2000" dirty="0" err="1" smtClean="0">
                <a:latin typeface="Tahoma" panose="020B0604030504040204" pitchFamily="34" charset="0"/>
              </a:rPr>
              <a:t>salah</a:t>
            </a:r>
            <a:r>
              <a:rPr lang="en-US" sz="2000" dirty="0" smtClean="0">
                <a:latin typeface="Tahoma" panose="020B0604030504040204" pitchFamily="34" charset="0"/>
              </a:rPr>
              <a:t>, </a:t>
            </a:r>
            <a:r>
              <a:rPr lang="en-US" sz="2000" dirty="0" err="1" smtClean="0">
                <a:latin typeface="Tahoma" panose="020B0604030504040204" pitchFamily="34" charset="0"/>
              </a:rPr>
              <a:t>maka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tangan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terasa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cepat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panas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283523" y="85275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SALAH :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634052" y="3100917"/>
            <a:ext cx="4509948" cy="192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Harus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ada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jarak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antara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tangkai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tangan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kita</a:t>
            </a:r>
            <a:endParaRPr lang="en-US" sz="2000" dirty="0" smtClean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Digunakan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untuk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menghindari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panas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pada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ketika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menyolder</a:t>
            </a:r>
            <a:endParaRPr lang="en-US" sz="2000" dirty="0" smtClean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Gunakan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sarung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tangan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untuk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menghindari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panas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548041" y="85275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</a:t>
            </a:r>
            <a:r>
              <a:rPr lang="en-US" sz="2000" dirty="0" err="1" smtClean="0">
                <a:latin typeface="Tahoma" panose="020B0604030504040204" pitchFamily="34" charset="0"/>
              </a:rPr>
              <a:t>BENAR</a:t>
            </a:r>
            <a:r>
              <a:rPr lang="en-US" sz="2000" dirty="0" smtClean="0">
                <a:latin typeface="Tahoma" panose="020B0604030504040204" pitchFamily="34" charset="0"/>
              </a:rPr>
              <a:t> :</a:t>
            </a:r>
            <a:endParaRPr lang="en-US" sz="2000" dirty="0">
              <a:latin typeface="Tahoma" panose="020B0604030504040204" pitchFamily="34" charset="0"/>
            </a:endParaRPr>
          </a:p>
        </p:txBody>
      </p:sp>
      <p:pic>
        <p:nvPicPr>
          <p:cNvPr id="11" name="Picture 9" descr="IMGA4406"/>
          <p:cNvPicPr>
            <a:picLocks noChangeAspect="1" noChangeArrowheads="1"/>
          </p:cNvPicPr>
          <p:nvPr/>
        </p:nvPicPr>
        <p:blipFill>
          <a:blip r:embed="rId3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12450" r="30263" b="8701"/>
          <a:stretch>
            <a:fillRect/>
          </a:stretch>
        </p:blipFill>
        <p:spPr bwMode="auto">
          <a:xfrm>
            <a:off x="360406" y="1398975"/>
            <a:ext cx="1802980" cy="1644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IMGA4408"/>
          <p:cNvPicPr>
            <a:picLocks noChangeAspect="1" noChangeArrowheads="1"/>
          </p:cNvPicPr>
          <p:nvPr/>
        </p:nvPicPr>
        <p:blipFill>
          <a:blip r:embed="rId4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1" t="17551" r="27551" b="18750"/>
          <a:stretch>
            <a:fillRect/>
          </a:stretch>
        </p:blipFill>
        <p:spPr bwMode="auto">
          <a:xfrm>
            <a:off x="2360493" y="1419224"/>
            <a:ext cx="1996157" cy="1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>
            <a:lum bright="2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8" t="8533" b="40839"/>
          <a:stretch>
            <a:fillRect/>
          </a:stretch>
        </p:blipFill>
        <p:spPr bwMode="auto">
          <a:xfrm>
            <a:off x="5548041" y="1398975"/>
            <a:ext cx="2471463" cy="162418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523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6" y="226031"/>
            <a:ext cx="6492458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Pengaturan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suhu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pada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solder digital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204894" y="965771"/>
            <a:ext cx="4675331" cy="359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Gunakan</a:t>
            </a:r>
            <a:r>
              <a:rPr lang="en-US" sz="2000" dirty="0" smtClean="0">
                <a:latin typeface="Tahoma" panose="020B0604030504040204" pitchFamily="34" charset="0"/>
              </a:rPr>
              <a:t> temperature yang </a:t>
            </a:r>
            <a:r>
              <a:rPr lang="en-US" sz="2000" dirty="0" err="1" smtClean="0">
                <a:latin typeface="Tahoma" panose="020B0604030504040204" pitchFamily="34" charset="0"/>
              </a:rPr>
              <a:t>cukup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pada</a:t>
            </a:r>
            <a:r>
              <a:rPr lang="en-US" sz="2000" dirty="0" smtClean="0">
                <a:latin typeface="Tahoma" panose="020B0604030504040204" pitchFamily="34" charset="0"/>
              </a:rPr>
              <a:t> solder </a:t>
            </a:r>
            <a:r>
              <a:rPr lang="en-US" sz="2000" dirty="0" err="1" smtClean="0">
                <a:latin typeface="Tahoma" panose="020B0604030504040204" pitchFamily="34" charset="0"/>
              </a:rPr>
              <a:t>selama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Anda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bekerja</a:t>
            </a:r>
            <a:r>
              <a:rPr lang="en-US" sz="2000" dirty="0" smtClean="0">
                <a:latin typeface="Tahoma" panose="020B0604030504040204" pitchFamily="34" charset="0"/>
              </a:rPr>
              <a:t> (330</a:t>
            </a:r>
            <a:r>
              <a:rPr lang="en-US" sz="2000" baseline="30000" dirty="0" smtClean="0">
                <a:latin typeface="Tahoma" panose="020B0604030504040204" pitchFamily="34" charset="0"/>
              </a:rPr>
              <a:t>0</a:t>
            </a:r>
            <a:r>
              <a:rPr lang="en-US" sz="2000" dirty="0" smtClean="0">
                <a:latin typeface="Tahoma" panose="020B0604030504040204" pitchFamily="34" charset="0"/>
              </a:rPr>
              <a:t> – 380</a:t>
            </a:r>
            <a:r>
              <a:rPr lang="en-US" sz="2000" baseline="30000" dirty="0" smtClean="0">
                <a:latin typeface="Tahoma" panose="020B0604030504040204" pitchFamily="34" charset="0"/>
              </a:rPr>
              <a:t>0 </a:t>
            </a:r>
            <a:r>
              <a:rPr lang="en-US" sz="2000" dirty="0" smtClean="0">
                <a:latin typeface="Tahoma" panose="020B0604030504040204" pitchFamily="34" charset="0"/>
              </a:rPr>
              <a:t>C)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ahoma" panose="020B0604030504040204" pitchFamily="34" charset="0"/>
              </a:rPr>
              <a:t>Solder </a:t>
            </a:r>
            <a:r>
              <a:rPr lang="en-US" sz="2000" dirty="0">
                <a:latin typeface="Tahoma" panose="020B0604030504040204" pitchFamily="34" charset="0"/>
              </a:rPr>
              <a:t>yang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panas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menyebabkan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matang</a:t>
            </a:r>
            <a:r>
              <a:rPr lang="en-US" sz="2000" dirty="0">
                <a:latin typeface="Tahoma" panose="020B0604030504040204" pitchFamily="34" charset="0"/>
              </a:rPr>
              <a:t> &amp; </a:t>
            </a:r>
            <a:r>
              <a:rPr lang="en-US" sz="2000" dirty="0" err="1">
                <a:latin typeface="Tahoma" panose="020B0604030504040204" pitchFamily="34" charset="0"/>
              </a:rPr>
              <a:t>kekuatan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menempel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pada</a:t>
            </a:r>
            <a:r>
              <a:rPr lang="en-US" sz="2000" dirty="0">
                <a:latin typeface="Tahoma" panose="020B0604030504040204" pitchFamily="34" charset="0"/>
              </a:rPr>
              <a:t> media solder </a:t>
            </a:r>
            <a:r>
              <a:rPr lang="en-US" sz="2000" dirty="0" err="1">
                <a:latin typeface="Tahoma" panose="020B0604030504040204" pitchFamily="34" charset="0"/>
              </a:rPr>
              <a:t>kurang</a:t>
            </a:r>
            <a:r>
              <a:rPr lang="en-US" sz="2000" dirty="0">
                <a:latin typeface="Tahoma" panose="020B0604030504040204" pitchFamily="34" charset="0"/>
              </a:rPr>
              <a:t>/</a:t>
            </a:r>
            <a:r>
              <a:rPr lang="en-US" sz="2000" dirty="0" err="1">
                <a:latin typeface="Tahoma" panose="020B0604030504040204" pitchFamily="34" charset="0"/>
              </a:rPr>
              <a:t>mudah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lepas</a:t>
            </a:r>
            <a:endParaRPr 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ahoma" panose="020B0604030504040204" pitchFamily="34" charset="0"/>
              </a:rPr>
              <a:t>Sedang</a:t>
            </a:r>
            <a:r>
              <a:rPr lang="en-US" sz="2000" dirty="0">
                <a:latin typeface="Tahoma" panose="020B0604030504040204" pitchFamily="34" charset="0"/>
              </a:rPr>
              <a:t> solder yang </a:t>
            </a:r>
            <a:r>
              <a:rPr lang="en-US" sz="2000" dirty="0" err="1">
                <a:latin typeface="Tahoma" panose="020B0604030504040204" pitchFamily="34" charset="0"/>
              </a:rPr>
              <a:t>terlalu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panas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akan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menyebabkan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mudah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retak</a:t>
            </a:r>
            <a:r>
              <a:rPr lang="en-US" sz="2000" dirty="0" smtClean="0">
                <a:latin typeface="Tahoma" panose="020B0604030504040204" pitchFamily="34" charset="0"/>
              </a:rPr>
              <a:t> (</a:t>
            </a:r>
            <a:r>
              <a:rPr lang="en-US" sz="2000" dirty="0" err="1" smtClean="0">
                <a:latin typeface="Tahoma" panose="020B0604030504040204" pitchFamily="34" charset="0"/>
              </a:rPr>
              <a:t>cacat</a:t>
            </a:r>
            <a:r>
              <a:rPr lang="en-US" sz="2000" dirty="0" smtClean="0">
                <a:latin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151" y="1623880"/>
            <a:ext cx="322942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4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6" y="226031"/>
            <a:ext cx="6492458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Berbagai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macam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bentuk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mata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/bit solder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5300" y="15298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id-ID" sz="1800" smtClean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5300" y="25966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id-ID" sz="1800" smtClean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300" y="36634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id-ID" sz="1800" smtClean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5300" y="996461"/>
            <a:ext cx="2667000" cy="495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 err="1"/>
              <a:t>Bentuk</a:t>
            </a: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3238500" y="15298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/>
              <a:t>Oval (</a:t>
            </a:r>
            <a:r>
              <a:rPr lang="en-US" sz="1800" dirty="0" err="1"/>
              <a:t>Permukaan</a:t>
            </a:r>
            <a:r>
              <a:rPr lang="en-US" sz="1800" dirty="0"/>
              <a:t> yang </a:t>
            </a:r>
            <a:r>
              <a:rPr lang="en-US" sz="1800" dirty="0" err="1"/>
              <a:t>luas</a:t>
            </a:r>
            <a:r>
              <a:rPr lang="en-US" sz="1800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0" y="25966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 err="1"/>
              <a:t>Kerucut</a:t>
            </a:r>
            <a:r>
              <a:rPr lang="en-US" sz="1800" dirty="0"/>
              <a:t> (</a:t>
            </a:r>
            <a:r>
              <a:rPr lang="en-US" sz="1800" dirty="0" err="1"/>
              <a:t>permukaan</a:t>
            </a:r>
            <a:r>
              <a:rPr lang="en-US" sz="1800" dirty="0"/>
              <a:t> yang </a:t>
            </a:r>
            <a:r>
              <a:rPr lang="en-US" sz="1800" dirty="0" err="1"/>
              <a:t>kecil</a:t>
            </a:r>
            <a:r>
              <a:rPr lang="en-US" sz="1800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0" y="36634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 err="1"/>
              <a:t>Kerucut</a:t>
            </a:r>
            <a:r>
              <a:rPr lang="en-US" sz="1800" dirty="0"/>
              <a:t> </a:t>
            </a:r>
            <a:r>
              <a:rPr lang="en-US" sz="1800" dirty="0" err="1"/>
              <a:t>terpotong</a:t>
            </a:r>
            <a:r>
              <a:rPr lang="en-US" sz="1800" dirty="0"/>
              <a:t> (</a:t>
            </a:r>
            <a:r>
              <a:rPr lang="en-US" sz="1800" dirty="0" err="1"/>
              <a:t>permukaan</a:t>
            </a:r>
            <a:r>
              <a:rPr lang="en-US" sz="1800" dirty="0"/>
              <a:t> yang </a:t>
            </a:r>
            <a:r>
              <a:rPr lang="en-US" sz="1800" dirty="0" err="1"/>
              <a:t>kecil</a:t>
            </a:r>
            <a:r>
              <a:rPr lang="en-US" sz="1800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0" y="996461"/>
            <a:ext cx="2667000" cy="495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 err="1"/>
              <a:t>Penggunaan</a:t>
            </a:r>
            <a:r>
              <a:rPr lang="en-US" sz="1800" dirty="0"/>
              <a:t> /</a:t>
            </a:r>
            <a:r>
              <a:rPr lang="en-US" sz="1800" dirty="0" err="1"/>
              <a:t>pemakaian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5981700" y="15298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/>
              <a:t>PCB, </a:t>
            </a:r>
            <a:r>
              <a:rPr lang="en-US" sz="1800" dirty="0" err="1"/>
              <a:t>kawat</a:t>
            </a:r>
            <a:r>
              <a:rPr lang="en-US" sz="1800" dirty="0"/>
              <a:t> / wire yang </a:t>
            </a:r>
            <a:r>
              <a:rPr lang="en-US" sz="1800" dirty="0" err="1"/>
              <a:t>besar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5981700" y="25966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/>
              <a:t>Terminal </a:t>
            </a:r>
            <a:r>
              <a:rPr lang="en-US" sz="1800" dirty="0" err="1"/>
              <a:t>arde</a:t>
            </a:r>
            <a:r>
              <a:rPr lang="en-US" sz="1800" dirty="0"/>
              <a:t>, wire , Leaf switch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1700" y="3663461"/>
            <a:ext cx="2667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/>
              <a:t>Terminal </a:t>
            </a:r>
            <a:r>
              <a:rPr lang="en-US" sz="1800" dirty="0" err="1"/>
              <a:t>arde</a:t>
            </a:r>
            <a:r>
              <a:rPr lang="en-US" sz="1800" dirty="0"/>
              <a:t>, wire , Leaf switch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1700" y="996461"/>
            <a:ext cx="2667000" cy="495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pemakaian</a:t>
            </a:r>
            <a:endParaRPr lang="en-US" sz="1800" dirty="0"/>
          </a:p>
        </p:txBody>
      </p:sp>
      <p:pic>
        <p:nvPicPr>
          <p:cNvPr id="17" name="Picture 18" descr="IMGA0795.JPG"/>
          <p:cNvPicPr>
            <a:picLocks noChangeAspect="1"/>
          </p:cNvPicPr>
          <p:nvPr/>
        </p:nvPicPr>
        <p:blipFill>
          <a:blip r:embed="rId3">
            <a:lum bright="3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8" t="35822" r="8955" b="30348"/>
          <a:stretch>
            <a:fillRect/>
          </a:stretch>
        </p:blipFill>
        <p:spPr bwMode="auto">
          <a:xfrm>
            <a:off x="647700" y="1682261"/>
            <a:ext cx="2384425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9" descr="IMGA0796.JPG"/>
          <p:cNvPicPr>
            <a:picLocks noChangeAspect="1"/>
          </p:cNvPicPr>
          <p:nvPr/>
        </p:nvPicPr>
        <p:blipFill>
          <a:blip r:embed="rId4">
            <a:lum bright="20000" contras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7" t="39024" r="6706" b="29268"/>
          <a:stretch>
            <a:fillRect/>
          </a:stretch>
        </p:blipFill>
        <p:spPr bwMode="auto">
          <a:xfrm>
            <a:off x="647700" y="2672861"/>
            <a:ext cx="2362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0" descr="IMGA0797.JPG"/>
          <p:cNvPicPr>
            <a:picLocks noChangeAspect="1"/>
          </p:cNvPicPr>
          <p:nvPr/>
        </p:nvPicPr>
        <p:blipFill>
          <a:blip r:embed="rId5">
            <a:lum bright="28000" contras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" t="25000" r="3571" b="35715"/>
          <a:stretch>
            <a:fillRect/>
          </a:stretch>
        </p:blipFill>
        <p:spPr bwMode="auto">
          <a:xfrm>
            <a:off x="647700" y="3788874"/>
            <a:ext cx="23622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0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6" y="226031"/>
            <a:ext cx="6492458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memegang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timah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75877" y="3224997"/>
            <a:ext cx="4180771" cy="168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Dipegang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jarak</a:t>
            </a:r>
            <a:r>
              <a:rPr lang="en-US" sz="2000" dirty="0" smtClean="0">
                <a:latin typeface="Tahoma" panose="020B0604030504040204" pitchFamily="34" charset="0"/>
              </a:rPr>
              <a:t> yang </a:t>
            </a:r>
            <a:r>
              <a:rPr lang="en-US" sz="2000" dirty="0" err="1" smtClean="0">
                <a:latin typeface="Tahoma" panose="020B0604030504040204" pitchFamily="34" charset="0"/>
              </a:rPr>
              <a:t>terlalu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dekat</a:t>
            </a:r>
            <a:endParaRPr lang="en-US" sz="2000" dirty="0" smtClean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Dipegang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jarak</a:t>
            </a:r>
            <a:r>
              <a:rPr lang="en-US" sz="2000" dirty="0" smtClean="0">
                <a:latin typeface="Tahoma" panose="020B0604030504040204" pitchFamily="34" charset="0"/>
              </a:rPr>
              <a:t> yang </a:t>
            </a:r>
            <a:r>
              <a:rPr lang="en-US" sz="2000" dirty="0" err="1" smtClean="0">
                <a:latin typeface="Tahoma" panose="020B0604030504040204" pitchFamily="34" charset="0"/>
              </a:rPr>
              <a:t>terlalu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panjang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985980" y="85275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SALAH :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4634052" y="3614625"/>
            <a:ext cx="4509948" cy="115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Harus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ada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jarak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antara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ujung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jari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tangan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ujung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mata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timah</a:t>
            </a:r>
            <a:r>
              <a:rPr lang="en-US" sz="2000" dirty="0" smtClean="0">
                <a:latin typeface="Tahoma" panose="020B0604030504040204" pitchFamily="34" charset="0"/>
              </a:rPr>
              <a:t> solder (50 – 60 mm)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5548041" y="85275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</a:t>
            </a:r>
            <a:r>
              <a:rPr lang="en-US" sz="2000" dirty="0" err="1" smtClean="0">
                <a:latin typeface="Tahoma" panose="020B0604030504040204" pitchFamily="34" charset="0"/>
              </a:rPr>
              <a:t>BENAR</a:t>
            </a:r>
            <a:r>
              <a:rPr lang="en-US" sz="2000" dirty="0" smtClean="0">
                <a:latin typeface="Tahoma" panose="020B0604030504040204" pitchFamily="34" charset="0"/>
              </a:rPr>
              <a:t> :</a:t>
            </a:r>
            <a:endParaRPr lang="en-US" sz="2000" dirty="0">
              <a:latin typeface="Tahoma" panose="020B0604030504040204" pitchFamily="34" charset="0"/>
            </a:endParaRPr>
          </a:p>
        </p:txBody>
      </p:sp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3">
            <a:lum bright="2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" t="8533" b="5867"/>
          <a:stretch>
            <a:fillRect/>
          </a:stretch>
        </p:blipFill>
        <p:spPr bwMode="auto">
          <a:xfrm>
            <a:off x="360405" y="1590141"/>
            <a:ext cx="1775585" cy="116159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1" descr="IMGA4410"/>
          <p:cNvPicPr>
            <a:picLocks noChangeAspect="1" noChangeArrowheads="1"/>
          </p:cNvPicPr>
          <p:nvPr/>
        </p:nvPicPr>
        <p:blipFill>
          <a:blip r:embed="rId4">
            <a:lum bright="3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2" t="9599" r="10574" b="11549"/>
          <a:stretch>
            <a:fillRect/>
          </a:stretch>
        </p:blipFill>
        <p:spPr bwMode="auto">
          <a:xfrm>
            <a:off x="2551415" y="1527494"/>
            <a:ext cx="1671263" cy="122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2" descr="IMGA4412"/>
          <p:cNvPicPr>
            <a:picLocks noChangeAspect="1" noChangeArrowheads="1"/>
          </p:cNvPicPr>
          <p:nvPr/>
        </p:nvPicPr>
        <p:blipFill>
          <a:blip r:embed="rId5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5" t="20009" r="39072" b="42830"/>
          <a:stretch>
            <a:fillRect/>
          </a:stretch>
        </p:blipFill>
        <p:spPr bwMode="auto">
          <a:xfrm>
            <a:off x="5457083" y="1380143"/>
            <a:ext cx="2762244" cy="204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100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226031"/>
            <a:ext cx="8238471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Pemberian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air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pada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sponge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pembersih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mata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solder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742613" y="3572490"/>
            <a:ext cx="7291777" cy="168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ahoma" panose="020B0604030504040204" pitchFamily="34" charset="0"/>
              </a:rPr>
              <a:t>Cara yang </a:t>
            </a:r>
            <a:r>
              <a:rPr lang="en-US" sz="2000" dirty="0" err="1" smtClean="0">
                <a:latin typeface="Tahoma" panose="020B0604030504040204" pitchFamily="34" charset="0"/>
              </a:rPr>
              <a:t>benar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yaitu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dicelup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ke</a:t>
            </a:r>
            <a:r>
              <a:rPr lang="en-US" sz="2000" dirty="0" smtClean="0">
                <a:latin typeface="Tahoma" panose="020B0604030504040204" pitchFamily="34" charset="0"/>
              </a:rPr>
              <a:t> air, </a:t>
            </a:r>
            <a:r>
              <a:rPr lang="en-US" sz="2000" dirty="0" err="1" smtClean="0">
                <a:latin typeface="Tahoma" panose="020B0604030504040204" pitchFamily="34" charset="0"/>
              </a:rPr>
              <a:t>kemudian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diperas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cukup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sekali</a:t>
            </a:r>
            <a:endParaRPr lang="en-US" sz="2000" dirty="0" smtClean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ahoma" panose="020B0604030504040204" pitchFamily="34" charset="0"/>
              </a:rPr>
              <a:t>Jika</a:t>
            </a:r>
            <a:r>
              <a:rPr lang="en-US" sz="2000" dirty="0" smtClean="0">
                <a:latin typeface="Tahoma" panose="020B0604030504040204" pitchFamily="34" charset="0"/>
              </a:rPr>
              <a:t> sponge </a:t>
            </a:r>
            <a:r>
              <a:rPr lang="en-US" sz="2000" dirty="0" err="1" smtClean="0">
                <a:latin typeface="Tahoma" panose="020B0604030504040204" pitchFamily="34" charset="0"/>
              </a:rPr>
              <a:t>diberi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terlalu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banyak</a:t>
            </a:r>
            <a:r>
              <a:rPr lang="en-US" sz="2000" dirty="0" smtClean="0">
                <a:latin typeface="Tahoma" panose="020B0604030504040204" pitchFamily="34" charset="0"/>
              </a:rPr>
              <a:t> air, </a:t>
            </a:r>
            <a:r>
              <a:rPr lang="en-US" sz="2000" dirty="0" err="1" smtClean="0">
                <a:latin typeface="Tahoma" panose="020B0604030504040204" pitchFamily="34" charset="0"/>
              </a:rPr>
              <a:t>maka</a:t>
            </a:r>
            <a:r>
              <a:rPr lang="en-US" sz="2000" dirty="0" smtClean="0">
                <a:latin typeface="Tahoma" panose="020B0604030504040204" pitchFamily="34" charset="0"/>
              </a:rPr>
              <a:t> solder </a:t>
            </a:r>
            <a:r>
              <a:rPr lang="en-US" sz="2000" dirty="0" err="1" smtClean="0">
                <a:latin typeface="Tahoma" panose="020B0604030504040204" pitchFamily="34" charset="0"/>
              </a:rPr>
              <a:t>mudah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dingin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mengakibatkan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solderan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mudah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pecah</a:t>
            </a:r>
            <a:endParaRPr lang="en-US" sz="2000" dirty="0">
              <a:latin typeface="Tahoma" panose="020B0604030504040204" pitchFamily="34" charset="0"/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3">
            <a:lum bright="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t="6602" r="6189" b="20761"/>
          <a:stretch>
            <a:fillRect/>
          </a:stretch>
        </p:blipFill>
        <p:spPr bwMode="auto">
          <a:xfrm>
            <a:off x="4976415" y="967572"/>
            <a:ext cx="33258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IMGA0799.JPG"/>
          <p:cNvPicPr>
            <a:picLocks noChangeAspect="1"/>
          </p:cNvPicPr>
          <p:nvPr/>
        </p:nvPicPr>
        <p:blipFill>
          <a:blip r:embed="rId4">
            <a:lum bright="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46" y="996147"/>
            <a:ext cx="29718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42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226031"/>
            <a:ext cx="8238471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Urutan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penyolderan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33" y="821494"/>
            <a:ext cx="4661043" cy="709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sz="2000" dirty="0" err="1" smtClean="0">
                <a:latin typeface="Tahoma" panose="020B0604030504040204" pitchFamily="34" charset="0"/>
              </a:rPr>
              <a:t>Bersihkan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ujung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mata</a:t>
            </a:r>
            <a:r>
              <a:rPr lang="en-US" sz="2000" dirty="0" smtClean="0">
                <a:latin typeface="Tahoma" panose="020B0604030504040204" pitchFamily="34" charset="0"/>
              </a:rPr>
              <a:t> solder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sponge yang </a:t>
            </a:r>
            <a:r>
              <a:rPr lang="en-US" sz="2000" dirty="0" err="1" smtClean="0">
                <a:latin typeface="Tahoma" panose="020B0604030504040204" pitchFamily="34" charset="0"/>
              </a:rPr>
              <a:t>telah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dibasahi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8633" y="2877516"/>
            <a:ext cx="436245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+mj-lt"/>
              <a:buAutoNum type="arabicPeriod" startAt="2"/>
            </a:pPr>
            <a:r>
              <a:rPr lang="en-US" sz="2000" dirty="0" err="1" smtClean="0">
                <a:latin typeface="Tahoma" panose="020B0604030504040204" pitchFamily="34" charset="0"/>
              </a:rPr>
              <a:t>Panaskan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</a:rPr>
              <a:t>part </a:t>
            </a:r>
            <a:r>
              <a:rPr lang="en-US" sz="2000" dirty="0" err="1">
                <a:latin typeface="Tahoma" panose="020B0604030504040204" pitchFamily="34" charset="0"/>
              </a:rPr>
              <a:t>sebelum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disolder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latin typeface="Tahoma" panose="020B0604030504040204" pitchFamily="34" charset="0"/>
              </a:rPr>
              <a:t> pasta/flux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645894" y="732766"/>
            <a:ext cx="4269506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+mj-lt"/>
              <a:buAutoNum type="arabicPeriod" startAt="3"/>
            </a:pPr>
            <a:r>
              <a:rPr lang="en-US" sz="2000" dirty="0" err="1" smtClean="0">
                <a:latin typeface="Tahoma" panose="020B0604030504040204" pitchFamily="34" charset="0"/>
              </a:rPr>
              <a:t>Berikan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secukupnya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latin typeface="Tahoma" panose="020B0604030504040204" pitchFamily="34" charset="0"/>
              </a:rPr>
              <a:t>antara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</a:rPr>
              <a:t>part/media yang </a:t>
            </a:r>
            <a:r>
              <a:rPr lang="en-US" sz="2000" dirty="0" err="1">
                <a:latin typeface="Tahoma" panose="020B0604030504040204" pitchFamily="34" charset="0"/>
              </a:rPr>
              <a:t>akan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disolder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dengan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mata</a:t>
            </a:r>
            <a:r>
              <a:rPr lang="en-US" sz="2000" dirty="0">
                <a:latin typeface="Tahoma" panose="020B0604030504040204" pitchFamily="34" charset="0"/>
              </a:rPr>
              <a:t> solder </a:t>
            </a:r>
            <a:r>
              <a:rPr lang="en-US" sz="2000" dirty="0" err="1">
                <a:latin typeface="Tahoma" panose="020B0604030504040204" pitchFamily="34" charset="0"/>
              </a:rPr>
              <a:t>jangan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pada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mata</a:t>
            </a:r>
            <a:r>
              <a:rPr lang="en-US" sz="2000" dirty="0">
                <a:latin typeface="Tahoma" panose="020B0604030504040204" pitchFamily="34" charset="0"/>
              </a:rPr>
              <a:t> solder </a:t>
            </a:r>
            <a:r>
              <a:rPr lang="en-US" sz="2000" dirty="0" err="1">
                <a:latin typeface="Tahoma" panose="020B0604030504040204" pitchFamily="34" charset="0"/>
              </a:rPr>
              <a:t>langsung</a:t>
            </a:r>
            <a:r>
              <a:rPr lang="en-US" sz="20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696671" y="3270422"/>
            <a:ext cx="438509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+mj-lt"/>
              <a:buAutoNum type="arabicPeriod" startAt="4"/>
            </a:pPr>
            <a:r>
              <a:rPr lang="en-US" sz="2000" dirty="0" err="1" smtClean="0">
                <a:latin typeface="Tahoma" panose="020B0604030504040204" pitchFamily="34" charset="0"/>
              </a:rPr>
              <a:t>Lepaskan</a:t>
            </a:r>
            <a:r>
              <a:rPr lang="en-US" sz="2000" dirty="0" smtClean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timah</a:t>
            </a:r>
            <a:r>
              <a:rPr lang="en-US" sz="2000" dirty="0">
                <a:latin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</a:rPr>
              <a:t>kemudian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lepaskan</a:t>
            </a:r>
            <a:r>
              <a:rPr lang="en-US" sz="2000" dirty="0">
                <a:latin typeface="Tahoma" panose="020B0604030504040204" pitchFamily="34" charset="0"/>
              </a:rPr>
              <a:t> solder.</a:t>
            </a: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3">
            <a:lum bright="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t="6602" r="6189" b="20761"/>
          <a:stretch>
            <a:fillRect/>
          </a:stretch>
        </p:blipFill>
        <p:spPr bwMode="auto">
          <a:xfrm>
            <a:off x="1325795" y="1530850"/>
            <a:ext cx="1838645" cy="126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IMGA4413"/>
          <p:cNvPicPr>
            <a:picLocks noChangeAspect="1" noChangeArrowheads="1"/>
          </p:cNvPicPr>
          <p:nvPr/>
        </p:nvPicPr>
        <p:blipFill>
          <a:blip r:embed="rId4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6" t="11250" r="11588" b="22501"/>
          <a:stretch>
            <a:fillRect/>
          </a:stretch>
        </p:blipFill>
        <p:spPr bwMode="auto">
          <a:xfrm>
            <a:off x="1465458" y="3671132"/>
            <a:ext cx="18288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IMGA4414"/>
          <p:cNvPicPr>
            <a:picLocks noChangeAspect="1" noChangeArrowheads="1"/>
          </p:cNvPicPr>
          <p:nvPr/>
        </p:nvPicPr>
        <p:blipFill>
          <a:blip r:embed="rId5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5" t="19949" r="24637" b="19949"/>
          <a:stretch>
            <a:fillRect/>
          </a:stretch>
        </p:blipFill>
        <p:spPr bwMode="auto">
          <a:xfrm>
            <a:off x="6535529" y="2068513"/>
            <a:ext cx="1486342" cy="12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5" descr="IMGA4416"/>
          <p:cNvPicPr>
            <a:picLocks noChangeAspect="1" noChangeArrowheads="1"/>
          </p:cNvPicPr>
          <p:nvPr/>
        </p:nvPicPr>
        <p:blipFill>
          <a:blip r:embed="rId6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8" t="23700" r="28462" b="13800"/>
          <a:stretch>
            <a:fillRect/>
          </a:stretch>
        </p:blipFill>
        <p:spPr bwMode="auto">
          <a:xfrm>
            <a:off x="7163830" y="3812256"/>
            <a:ext cx="1716081" cy="136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66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626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penyolderan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36339" y="624641"/>
            <a:ext cx="7662536" cy="4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ahoma" panose="020B0604030504040204" pitchFamily="34" charset="0"/>
              </a:rPr>
              <a:t>Posisi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sudut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</a:rPr>
              <a:t>penyolderan</a:t>
            </a:r>
            <a:r>
              <a:rPr lang="en-US" sz="2000" dirty="0">
                <a:latin typeface="Tahoma" panose="020B0604030504040204" pitchFamily="34" charset="0"/>
              </a:rPr>
              <a:t> yang </a:t>
            </a:r>
            <a:r>
              <a:rPr lang="en-US" sz="2000" dirty="0" err="1">
                <a:latin typeface="Tahoma" panose="020B0604030504040204" pitchFamily="34" charset="0"/>
              </a:rPr>
              <a:t>baik</a:t>
            </a:r>
            <a:r>
              <a:rPr lang="en-US" sz="2000" dirty="0">
                <a:latin typeface="Tahoma" panose="020B0604030504040204" pitchFamily="34" charset="0"/>
              </a:rPr>
              <a:t> 45 </a:t>
            </a:r>
            <a:r>
              <a:rPr lang="en-US" sz="2000" baseline="30000" dirty="0">
                <a:latin typeface="Tahoma" panose="020B0604030504040204" pitchFamily="34" charset="0"/>
              </a:rPr>
              <a:t>0</a:t>
            </a:r>
            <a:r>
              <a:rPr lang="en-US" sz="2000" dirty="0">
                <a:latin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</a:rPr>
              <a:t>- </a:t>
            </a:r>
            <a:r>
              <a:rPr lang="en-US" sz="2000" dirty="0">
                <a:latin typeface="Tahoma" panose="020B0604030504040204" pitchFamily="34" charset="0"/>
              </a:rPr>
              <a:t>60 </a:t>
            </a:r>
            <a:r>
              <a:rPr lang="en-US" sz="2000" baseline="30000" dirty="0">
                <a:latin typeface="Tahoma" panose="020B0604030504040204" pitchFamily="34" charset="0"/>
              </a:rPr>
              <a:t>0</a:t>
            </a:r>
          </a:p>
        </p:txBody>
      </p:sp>
      <p:pic>
        <p:nvPicPr>
          <p:cNvPr id="16" name="Picture 7" descr="IMGA4405"/>
          <p:cNvPicPr>
            <a:picLocks noChangeAspect="1" noChangeArrowheads="1"/>
          </p:cNvPicPr>
          <p:nvPr/>
        </p:nvPicPr>
        <p:blipFill>
          <a:blip r:embed="rId3">
            <a:lum bright="3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2" t="23700" r="9676" b="7500"/>
          <a:stretch>
            <a:fillRect/>
          </a:stretch>
        </p:blipFill>
        <p:spPr bwMode="auto">
          <a:xfrm>
            <a:off x="1796389" y="1251365"/>
            <a:ext cx="5202115" cy="371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439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Penyebaran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flux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7684" y="3333528"/>
            <a:ext cx="4570941" cy="39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ahoma" panose="020B0604030504040204" pitchFamily="34" charset="0"/>
              </a:rPr>
              <a:t>Pemberian</a:t>
            </a:r>
            <a:r>
              <a:rPr lang="en-US" sz="1800" dirty="0" smtClean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Timah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pada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Batang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smtClean="0">
                <a:latin typeface="Tahoma" panose="020B0604030504040204" pitchFamily="34" charset="0"/>
              </a:rPr>
              <a:t>Mata solder</a:t>
            </a:r>
            <a:endParaRPr lang="en-US" sz="1800" dirty="0">
              <a:latin typeface="Tahoma" panose="020B0604030504040204" pitchFamily="34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910178" y="3262141"/>
            <a:ext cx="4233822" cy="671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ahoma" panose="020B0604030504040204" pitchFamily="34" charset="0"/>
              </a:rPr>
              <a:t>Pemberian</a:t>
            </a:r>
            <a:r>
              <a:rPr lang="en-US" sz="1800" dirty="0" smtClean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Timah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pada</a:t>
            </a:r>
            <a:r>
              <a:rPr lang="en-US" sz="1800" dirty="0">
                <a:latin typeface="Tahoma" panose="020B0604030504040204" pitchFamily="34" charset="0"/>
              </a:rPr>
              <a:t> Part </a:t>
            </a:r>
            <a:r>
              <a:rPr lang="en-US" sz="1800" dirty="0" err="1">
                <a:latin typeface="Tahoma" panose="020B0604030504040204" pitchFamily="34" charset="0"/>
              </a:rPr>
              <a:t>atau</a:t>
            </a:r>
            <a:r>
              <a:rPr lang="en-US" sz="1800" dirty="0">
                <a:latin typeface="Tahoma" panose="020B0604030504040204" pitchFamily="34" charset="0"/>
              </a:rPr>
              <a:t> area yang </a:t>
            </a:r>
            <a:r>
              <a:rPr lang="en-US" sz="1800" dirty="0" err="1">
                <a:latin typeface="Tahoma" panose="020B0604030504040204" pitchFamily="34" charset="0"/>
              </a:rPr>
              <a:t>akan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disolder</a:t>
            </a:r>
            <a:endParaRPr lang="en-US" sz="1800" dirty="0">
              <a:latin typeface="Tahoma" panose="020B0604030504040204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3400" y="4009782"/>
            <a:ext cx="8077200" cy="97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sz="1800" dirty="0" err="1" smtClean="0">
                <a:latin typeface="Tahoma" panose="020B0604030504040204" pitchFamily="34" charset="0"/>
              </a:rPr>
              <a:t>Catatan</a:t>
            </a:r>
            <a:r>
              <a:rPr lang="en-US" sz="1800" dirty="0" smtClean="0">
                <a:latin typeface="Tahoma" panose="020B0604030504040204" pitchFamily="34" charset="0"/>
              </a:rPr>
              <a:t> 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1800" dirty="0" err="1" smtClean="0">
                <a:latin typeface="Tahoma" panose="020B0604030504040204" pitchFamily="34" charset="0"/>
              </a:rPr>
              <a:t>Jika</a:t>
            </a:r>
            <a:r>
              <a:rPr lang="en-US" sz="1800" dirty="0" smtClean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Timah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langsung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ditempelkan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kesolder</a:t>
            </a:r>
            <a:r>
              <a:rPr lang="en-US" sz="1800" dirty="0">
                <a:latin typeface="Tahoma" panose="020B0604030504040204" pitchFamily="34" charset="0"/>
              </a:rPr>
              <a:t>, </a:t>
            </a:r>
            <a:r>
              <a:rPr lang="en-US" sz="1800" dirty="0" err="1">
                <a:latin typeface="Tahoma" panose="020B0604030504040204" pitchFamily="34" charset="0"/>
              </a:rPr>
              <a:t>maka</a:t>
            </a:r>
            <a:r>
              <a:rPr lang="en-US" sz="1800" dirty="0">
                <a:latin typeface="Tahoma" panose="020B0604030504040204" pitchFamily="34" charset="0"/>
              </a:rPr>
              <a:t> Flux </a:t>
            </a:r>
            <a:r>
              <a:rPr lang="en-US" sz="1800" dirty="0" err="1">
                <a:latin typeface="Tahoma" panose="020B0604030504040204" pitchFamily="34" charset="0"/>
              </a:rPr>
              <a:t>akan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menyebar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ahoma" panose="020B0604030504040204" pitchFamily="34" charset="0"/>
              </a:rPr>
              <a:t>Jika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menyolder</a:t>
            </a:r>
            <a:r>
              <a:rPr lang="en-US" sz="1800" dirty="0">
                <a:latin typeface="Tahoma" panose="020B0604030504040204" pitchFamily="34" charset="0"/>
              </a:rPr>
              <a:t>, </a:t>
            </a:r>
            <a:r>
              <a:rPr lang="en-US" sz="1800" dirty="0" err="1">
                <a:latin typeface="Tahoma" panose="020B0604030504040204" pitchFamily="34" charset="0"/>
              </a:rPr>
              <a:t>jangan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tempelkan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timah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secara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langsung</a:t>
            </a:r>
            <a:r>
              <a:rPr lang="en-US" sz="1800" dirty="0">
                <a:latin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</a:rPr>
              <a:t>kesolder</a:t>
            </a:r>
            <a:endParaRPr lang="en-US" sz="1800" dirty="0">
              <a:latin typeface="Tahoma" panose="020B0604030504040204" pitchFamily="34" charset="0"/>
            </a:endParaRPr>
          </a:p>
        </p:txBody>
      </p:sp>
      <p:pic>
        <p:nvPicPr>
          <p:cNvPr id="8" name="Picture 12" descr="IMGA4418"/>
          <p:cNvPicPr>
            <a:picLocks noChangeAspect="1" noChangeArrowheads="1"/>
          </p:cNvPicPr>
          <p:nvPr/>
        </p:nvPicPr>
        <p:blipFill>
          <a:blip r:embed="rId3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1" t="17551" r="26550" b="31200"/>
          <a:stretch>
            <a:fillRect/>
          </a:stretch>
        </p:blipFill>
        <p:spPr bwMode="auto">
          <a:xfrm>
            <a:off x="5649637" y="1290485"/>
            <a:ext cx="2194690" cy="183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 descr="IMGA4417"/>
          <p:cNvPicPr>
            <a:picLocks noChangeAspect="1" noChangeArrowheads="1"/>
          </p:cNvPicPr>
          <p:nvPr/>
        </p:nvPicPr>
        <p:blipFill>
          <a:blip r:embed="rId4">
            <a:lum bright="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0" t="8701" r="22838" b="34950"/>
          <a:stretch>
            <a:fillRect/>
          </a:stretch>
        </p:blipFill>
        <p:spPr bwMode="auto">
          <a:xfrm>
            <a:off x="1045662" y="1251701"/>
            <a:ext cx="2271741" cy="189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045662" y="77150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SALAH :</a:t>
            </a:r>
            <a:endParaRPr lang="en-US" sz="2000" dirty="0">
              <a:latin typeface="Tahoma" panose="020B0604030504040204" pitchFamily="34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548041" y="852755"/>
            <a:ext cx="2560567" cy="4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sz="2000" dirty="0" smtClean="0">
                <a:latin typeface="Tahoma" panose="020B0604030504040204" pitchFamily="34" charset="0"/>
              </a:rPr>
              <a:t>CARA YANG </a:t>
            </a:r>
            <a:r>
              <a:rPr lang="en-US" sz="2000" dirty="0" err="1" smtClean="0">
                <a:latin typeface="Tahoma" panose="020B0604030504040204" pitchFamily="34" charset="0"/>
              </a:rPr>
              <a:t>BENAR</a:t>
            </a:r>
            <a:r>
              <a:rPr lang="en-US" sz="2000" dirty="0" smtClean="0">
                <a:latin typeface="Tahoma" panose="020B0604030504040204" pitchFamily="34" charset="0"/>
              </a:rPr>
              <a:t> :</a:t>
            </a:r>
            <a:endParaRPr lang="en-US" sz="20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0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15" y="704117"/>
            <a:ext cx="7170369" cy="405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5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04" y="728601"/>
            <a:ext cx="6697968" cy="41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4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54" y="810328"/>
            <a:ext cx="6677171" cy="43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6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09089" y="737171"/>
            <a:ext cx="71368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1.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Adanya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solder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</a:rPr>
              <a:t>Balls/solder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fines/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bulatan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sisa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hasil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solderan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17" y="1415048"/>
            <a:ext cx="6585711" cy="25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247389" y="119602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93122" y="714054"/>
            <a:ext cx="88825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2.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Adanya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short solder/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hasil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solderan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terhubung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dengan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komponen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jalur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lain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241" y="1245887"/>
            <a:ext cx="5844323" cy="34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8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09089" y="737171"/>
            <a:ext cx="6588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.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Adanya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solder projection/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ujung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solderan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terlalu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lancip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56" y="1350447"/>
            <a:ext cx="5458587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09089" y="737171"/>
            <a:ext cx="3988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4.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Pemberian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timah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terlalu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sedikit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66" y="1245888"/>
            <a:ext cx="5574023" cy="35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1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360405" y="119601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kurang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09089" y="737171"/>
            <a:ext cx="64716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5.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Nonwetting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timah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kurang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matang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/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cacat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penyolderan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811" y="1330093"/>
            <a:ext cx="6468378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9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452764" y="561390"/>
            <a:ext cx="8238471" cy="508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Standart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penyolderan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12" y="1702472"/>
            <a:ext cx="3741374" cy="2044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64" y="1702472"/>
            <a:ext cx="3652371" cy="20440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536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47"/>
          <p:cNvGrpSpPr/>
          <p:nvPr/>
        </p:nvGrpSpPr>
        <p:grpSpPr>
          <a:xfrm>
            <a:off x="-2440539" y="-2981675"/>
            <a:ext cx="6799674" cy="6795188"/>
            <a:chOff x="-2440539" y="-2981675"/>
            <a:chExt cx="6799674" cy="6795188"/>
          </a:xfrm>
        </p:grpSpPr>
        <p:pic>
          <p:nvPicPr>
            <p:cNvPr id="685" name="Google Shape;685;p47"/>
            <p:cNvPicPr preferRelativeResize="0"/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 rot="-1440944">
              <a:off x="-1616879" y="-2155830"/>
              <a:ext cx="5152355" cy="51434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6" name="Google Shape;686;p47"/>
            <p:cNvGrpSpPr/>
            <p:nvPr/>
          </p:nvGrpSpPr>
          <p:grpSpPr>
            <a:xfrm>
              <a:off x="676460" y="219400"/>
              <a:ext cx="1888890" cy="3270326"/>
              <a:chOff x="676460" y="219400"/>
              <a:chExt cx="1888890" cy="3270326"/>
            </a:xfrm>
          </p:grpSpPr>
          <p:sp>
            <p:nvSpPr>
              <p:cNvPr id="687" name="Google Shape;687;p47"/>
              <p:cNvSpPr/>
              <p:nvPr/>
            </p:nvSpPr>
            <p:spPr>
              <a:xfrm>
                <a:off x="2249750" y="219400"/>
                <a:ext cx="315600" cy="315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688" name="Google Shape;688;p47"/>
              <p:cNvGrpSpPr/>
              <p:nvPr/>
            </p:nvGrpSpPr>
            <p:grpSpPr>
              <a:xfrm rot="-2700000">
                <a:off x="759297" y="3006914"/>
                <a:ext cx="399975" cy="399975"/>
                <a:chOff x="2186585" y="190453"/>
                <a:chExt cx="557400" cy="557400"/>
              </a:xfrm>
            </p:grpSpPr>
            <p:sp>
              <p:nvSpPr>
                <p:cNvPr id="689" name="Google Shape;689;p47"/>
                <p:cNvSpPr/>
                <p:nvPr/>
              </p:nvSpPr>
              <p:spPr>
                <a:xfrm>
                  <a:off x="2186585" y="377730"/>
                  <a:ext cx="557400" cy="182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90" name="Google Shape;690;p47"/>
                <p:cNvSpPr/>
                <p:nvPr/>
              </p:nvSpPr>
              <p:spPr>
                <a:xfrm rot="5400000">
                  <a:off x="2186605" y="379453"/>
                  <a:ext cx="557400" cy="1794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</p:grpSp>
      <p:grpSp>
        <p:nvGrpSpPr>
          <p:cNvPr id="691" name="Google Shape;691;p47"/>
          <p:cNvGrpSpPr/>
          <p:nvPr/>
        </p:nvGrpSpPr>
        <p:grpSpPr>
          <a:xfrm>
            <a:off x="6665978" y="587525"/>
            <a:ext cx="5643078" cy="4972967"/>
            <a:chOff x="6896178" y="0"/>
            <a:chExt cx="5643078" cy="4972967"/>
          </a:xfrm>
        </p:grpSpPr>
        <p:sp>
          <p:nvSpPr>
            <p:cNvPr id="692" name="Google Shape;692;p47"/>
            <p:cNvSpPr/>
            <p:nvPr/>
          </p:nvSpPr>
          <p:spPr>
            <a:xfrm>
              <a:off x="6896178" y="0"/>
              <a:ext cx="5643078" cy="4972967"/>
            </a:xfrm>
            <a:custGeom>
              <a:avLst/>
              <a:gdLst/>
              <a:ahLst/>
              <a:cxnLst/>
              <a:rect l="l" t="t" r="r" b="b"/>
              <a:pathLst>
                <a:path w="7486" h="6597" extrusionOk="0">
                  <a:moveTo>
                    <a:pt x="6242" y="2854"/>
                  </a:moveTo>
                  <a:lnTo>
                    <a:pt x="6242" y="2854"/>
                  </a:lnTo>
                  <a:cubicBezTo>
                    <a:pt x="7649" y="4048"/>
                    <a:pt x="8333" y="5325"/>
                    <a:pt x="5699" y="5929"/>
                  </a:cubicBezTo>
                  <a:cubicBezTo>
                    <a:pt x="5226" y="6039"/>
                    <a:pt x="4760" y="6178"/>
                    <a:pt x="4305" y="6346"/>
                  </a:cubicBezTo>
                  <a:cubicBezTo>
                    <a:pt x="2924" y="6849"/>
                    <a:pt x="2531" y="6604"/>
                    <a:pt x="1968" y="5542"/>
                  </a:cubicBezTo>
                  <a:cubicBezTo>
                    <a:pt x="1569" y="4791"/>
                    <a:pt x="1086" y="4090"/>
                    <a:pt x="535" y="3442"/>
                  </a:cubicBezTo>
                  <a:cubicBezTo>
                    <a:pt x="-232" y="2545"/>
                    <a:pt x="-175" y="2318"/>
                    <a:pt x="711" y="1905"/>
                  </a:cubicBezTo>
                  <a:cubicBezTo>
                    <a:pt x="1637" y="1473"/>
                    <a:pt x="2500" y="916"/>
                    <a:pt x="3280" y="257"/>
                  </a:cubicBezTo>
                  <a:cubicBezTo>
                    <a:pt x="3671" y="-74"/>
                    <a:pt x="3819" y="-83"/>
                    <a:pt x="4000" y="214"/>
                  </a:cubicBezTo>
                  <a:cubicBezTo>
                    <a:pt x="4600" y="1209"/>
                    <a:pt x="5355" y="2101"/>
                    <a:pt x="6242" y="2854"/>
                  </a:cubicBezTo>
                  <a:close/>
                </a:path>
              </a:pathLst>
            </a:custGeom>
            <a:solidFill>
              <a:srgbClr val="05FFB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3" name="Google Shape;693;p47"/>
            <p:cNvGrpSpPr/>
            <p:nvPr/>
          </p:nvGrpSpPr>
          <p:grpSpPr>
            <a:xfrm>
              <a:off x="8673175" y="4291700"/>
              <a:ext cx="198262" cy="526385"/>
              <a:chOff x="179125" y="93800"/>
              <a:chExt cx="198262" cy="526385"/>
            </a:xfrm>
          </p:grpSpPr>
          <p:sp>
            <p:nvSpPr>
              <p:cNvPr id="694" name="Google Shape;694;p47"/>
              <p:cNvSpPr/>
              <p:nvPr/>
            </p:nvSpPr>
            <p:spPr>
              <a:xfrm>
                <a:off x="179125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5" name="Google Shape;695;p47"/>
              <p:cNvSpPr/>
              <p:nvPr/>
            </p:nvSpPr>
            <p:spPr>
              <a:xfrm>
                <a:off x="323387" y="93800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6" name="Google Shape;696;p47"/>
              <p:cNvSpPr/>
              <p:nvPr/>
            </p:nvSpPr>
            <p:spPr>
              <a:xfrm>
                <a:off x="179125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7" name="Google Shape;697;p47"/>
              <p:cNvSpPr/>
              <p:nvPr/>
            </p:nvSpPr>
            <p:spPr>
              <a:xfrm>
                <a:off x="323387" y="251262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8" name="Google Shape;698;p47"/>
              <p:cNvSpPr/>
              <p:nvPr/>
            </p:nvSpPr>
            <p:spPr>
              <a:xfrm>
                <a:off x="179125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9" name="Google Shape;699;p47"/>
              <p:cNvSpPr/>
              <p:nvPr/>
            </p:nvSpPr>
            <p:spPr>
              <a:xfrm>
                <a:off x="323387" y="408723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00" name="Google Shape;700;p47"/>
              <p:cNvSpPr/>
              <p:nvPr/>
            </p:nvSpPr>
            <p:spPr>
              <a:xfrm>
                <a:off x="179125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01" name="Google Shape;701;p47"/>
              <p:cNvSpPr/>
              <p:nvPr/>
            </p:nvSpPr>
            <p:spPr>
              <a:xfrm>
                <a:off x="323387" y="566185"/>
                <a:ext cx="54000" cy="54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02" name="Google Shape;702;p47"/>
            <p:cNvGrpSpPr/>
            <p:nvPr/>
          </p:nvGrpSpPr>
          <p:grpSpPr>
            <a:xfrm>
              <a:off x="7946940" y="219400"/>
              <a:ext cx="1318785" cy="1121154"/>
              <a:chOff x="7946940" y="219400"/>
              <a:chExt cx="1318785" cy="1121154"/>
            </a:xfrm>
          </p:grpSpPr>
          <p:grpSp>
            <p:nvGrpSpPr>
              <p:cNvPr id="703" name="Google Shape;703;p47"/>
              <p:cNvGrpSpPr/>
              <p:nvPr/>
            </p:nvGrpSpPr>
            <p:grpSpPr>
              <a:xfrm rot="-2700000">
                <a:off x="8064911" y="652970"/>
                <a:ext cx="569613" cy="569613"/>
                <a:chOff x="2186585" y="190453"/>
                <a:chExt cx="557400" cy="557400"/>
              </a:xfrm>
            </p:grpSpPr>
            <p:sp>
              <p:nvSpPr>
                <p:cNvPr id="704" name="Google Shape;704;p47"/>
                <p:cNvSpPr/>
                <p:nvPr/>
              </p:nvSpPr>
              <p:spPr>
                <a:xfrm>
                  <a:off x="2186585" y="377730"/>
                  <a:ext cx="557400" cy="182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05" name="Google Shape;705;p47"/>
                <p:cNvSpPr/>
                <p:nvPr/>
              </p:nvSpPr>
              <p:spPr>
                <a:xfrm rot="5400000">
                  <a:off x="2186605" y="379453"/>
                  <a:ext cx="557400" cy="1794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706" name="Google Shape;706;p47"/>
              <p:cNvSpPr/>
              <p:nvPr/>
            </p:nvSpPr>
            <p:spPr>
              <a:xfrm>
                <a:off x="8950125" y="219400"/>
                <a:ext cx="315600" cy="315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712" name="Google Shape;712;p47"/>
          <p:cNvSpPr txBox="1">
            <a:spLocks noGrp="1"/>
          </p:cNvSpPr>
          <p:nvPr>
            <p:ph type="ctrTitle"/>
          </p:nvPr>
        </p:nvSpPr>
        <p:spPr>
          <a:xfrm>
            <a:off x="2703034" y="2114550"/>
            <a:ext cx="3312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st Reduction in Manufacturing Industry Newsletter by Slidesgo">
  <a:themeElements>
    <a:clrScheme name="Simple Light">
      <a:dk1>
        <a:srgbClr val="312052"/>
      </a:dk1>
      <a:lt1>
        <a:srgbClr val="EDEDED"/>
      </a:lt1>
      <a:dk2>
        <a:srgbClr val="00FFBE"/>
      </a:dk2>
      <a:lt2>
        <a:srgbClr val="FFFFFF"/>
      </a:lt2>
      <a:accent1>
        <a:srgbClr val="D9D9D9"/>
      </a:accent1>
      <a:accent2>
        <a:srgbClr val="B7B7B7"/>
      </a:accent2>
      <a:accent3>
        <a:srgbClr val="666666"/>
      </a:accent3>
      <a:accent4>
        <a:srgbClr val="000000"/>
      </a:accent4>
      <a:accent5>
        <a:srgbClr val="FFFFFF"/>
      </a:accent5>
      <a:accent6>
        <a:srgbClr val="FFFFFF"/>
      </a:accent6>
      <a:hlink>
        <a:srgbClr val="3120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465</Words>
  <Application>Microsoft Office PowerPoint</Application>
  <PresentationFormat>On-screen Show (16:9)</PresentationFormat>
  <Paragraphs>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Montserrat</vt:lpstr>
      <vt:lpstr>Tahoma</vt:lpstr>
      <vt:lpstr>Prompt Black</vt:lpstr>
      <vt:lpstr>Franklin Gothic Book</vt:lpstr>
      <vt:lpstr>Prompt Medium</vt:lpstr>
      <vt:lpstr>Wingdings</vt:lpstr>
      <vt:lpstr>Prompt ExtraLight</vt:lpstr>
      <vt:lpstr>Arial</vt:lpstr>
      <vt:lpstr>Cost Reduction in Manufacturing Industry Newsletter by Slidesgo</vt:lpstr>
      <vt:lpstr>TEKNIK PENYOLDERAN</vt:lpstr>
      <vt:lpstr>Bagian – bagian solder digital</vt:lpstr>
      <vt:lpstr>Pengaturan suhu pada solder digital</vt:lpstr>
      <vt:lpstr>Cara memegang solder</vt:lpstr>
      <vt:lpstr>Pengaturan suhu pada solder digital</vt:lpstr>
      <vt:lpstr>Berbagai macam bentuk mata/bit solder</vt:lpstr>
      <vt:lpstr>Cara memegang timah</vt:lpstr>
      <vt:lpstr>Pemberian air pada sponge pembersih mata solder</vt:lpstr>
      <vt:lpstr>Urutan melakukan penyolderan</vt:lpstr>
      <vt:lpstr>Metode penyolderan</vt:lpstr>
      <vt:lpstr>Penyebaran flux</vt:lpstr>
      <vt:lpstr>Hasil solderan :</vt:lpstr>
      <vt:lpstr>Hasil solderan kurang baik :</vt:lpstr>
      <vt:lpstr>Hasil solderan kurang baik :</vt:lpstr>
      <vt:lpstr>Hasil solderan kurang baik :</vt:lpstr>
      <vt:lpstr>Hasil solderan kurang baik :</vt:lpstr>
      <vt:lpstr>Hasil solderan kurang baik :</vt:lpstr>
      <vt:lpstr>Hasil solderan kurang baik :</vt:lpstr>
      <vt:lpstr>Hasil solderan kurang baik :</vt:lpstr>
      <vt:lpstr>Standart penyolderan :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TEKNIK PENYOLDERAN</dc:title>
  <dc:creator>Intalia Eki</dc:creator>
  <cp:lastModifiedBy>A S U S</cp:lastModifiedBy>
  <cp:revision>11</cp:revision>
  <dcterms:modified xsi:type="dcterms:W3CDTF">2025-07-22T02:43:46Z</dcterms:modified>
</cp:coreProperties>
</file>